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306" r:id="rId5"/>
    <p:sldId id="339" r:id="rId6"/>
    <p:sldId id="341" r:id="rId7"/>
    <p:sldId id="297" r:id="rId8"/>
    <p:sldId id="309" r:id="rId9"/>
    <p:sldId id="334" r:id="rId10"/>
    <p:sldId id="342" r:id="rId11"/>
    <p:sldId id="340" r:id="rId12"/>
    <p:sldId id="337" r:id="rId13"/>
    <p:sldId id="343" r:id="rId1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051"/>
    <a:srgbClr val="153B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82CE50-B8FC-45A7-A8C4-722587744E38}" v="32" dt="2024-12-10T02:03:09.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145" autoAdjust="0"/>
  </p:normalViewPr>
  <p:slideViewPr>
    <p:cSldViewPr snapToGrid="0">
      <p:cViewPr varScale="1">
        <p:scale>
          <a:sx n="102" d="100"/>
          <a:sy n="102" d="100"/>
        </p:scale>
        <p:origin x="8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9A0BE409-F5B1-400E-AA58-216CA55B0769}" type="datetimeFigureOut">
              <a:rPr lang="en-US" smtClean="0"/>
              <a:t>12/10/2024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A9556FFD-E884-44F2-A233-1F373437F3DA}" type="slidenum">
              <a:rPr lang="en-US" smtClean="0"/>
              <a:t>‹#›</a:t>
            </a:fld>
            <a:endParaRPr lang="en-US"/>
          </a:p>
        </p:txBody>
      </p:sp>
    </p:spTree>
    <p:extLst>
      <p:ext uri="{BB962C8B-B14F-4D97-AF65-F5344CB8AC3E}">
        <p14:creationId xmlns:p14="http://schemas.microsoft.com/office/powerpoint/2010/main" val="90823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1</a:t>
            </a:fld>
            <a:endParaRPr lang="en-US"/>
          </a:p>
        </p:txBody>
      </p:sp>
    </p:spTree>
    <p:extLst>
      <p:ext uri="{BB962C8B-B14F-4D97-AF65-F5344CB8AC3E}">
        <p14:creationId xmlns:p14="http://schemas.microsoft.com/office/powerpoint/2010/main" val="3227823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2</a:t>
            </a:fld>
            <a:endParaRPr lang="en-US"/>
          </a:p>
        </p:txBody>
      </p:sp>
    </p:spTree>
    <p:extLst>
      <p:ext uri="{BB962C8B-B14F-4D97-AF65-F5344CB8AC3E}">
        <p14:creationId xmlns:p14="http://schemas.microsoft.com/office/powerpoint/2010/main" val="3574004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4</a:t>
            </a:fld>
            <a:endParaRPr lang="en-US"/>
          </a:p>
        </p:txBody>
      </p:sp>
    </p:spTree>
    <p:extLst>
      <p:ext uri="{BB962C8B-B14F-4D97-AF65-F5344CB8AC3E}">
        <p14:creationId xmlns:p14="http://schemas.microsoft.com/office/powerpoint/2010/main" val="3574004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5</a:t>
            </a:fld>
            <a:endParaRPr lang="en-US"/>
          </a:p>
        </p:txBody>
      </p:sp>
    </p:spTree>
    <p:extLst>
      <p:ext uri="{BB962C8B-B14F-4D97-AF65-F5344CB8AC3E}">
        <p14:creationId xmlns:p14="http://schemas.microsoft.com/office/powerpoint/2010/main" val="1817164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6</a:t>
            </a:fld>
            <a:endParaRPr lang="en-US"/>
          </a:p>
        </p:txBody>
      </p:sp>
    </p:spTree>
    <p:extLst>
      <p:ext uri="{BB962C8B-B14F-4D97-AF65-F5344CB8AC3E}">
        <p14:creationId xmlns:p14="http://schemas.microsoft.com/office/powerpoint/2010/main" val="1677061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74F2-EDC7-7C6E-773B-A5BB1A203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25FDF-5BEB-B091-20FB-71763C5D8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18D7C-14E1-B560-80F4-49C77E1FC9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578DB-7D80-9F9C-6EA9-B75B8A76952B}"/>
              </a:ext>
            </a:extLst>
          </p:cNvPr>
          <p:cNvSpPr>
            <a:spLocks noGrp="1"/>
          </p:cNvSpPr>
          <p:nvPr>
            <p:ph type="sldNum" sz="quarter" idx="5"/>
          </p:nvPr>
        </p:nvSpPr>
        <p:spPr/>
        <p:txBody>
          <a:bodyPr/>
          <a:lstStyle/>
          <a:p>
            <a:fld id="{A9556FFD-E884-44F2-A233-1F373437F3DA}" type="slidenum">
              <a:rPr lang="en-US" smtClean="0"/>
              <a:t>7</a:t>
            </a:fld>
            <a:endParaRPr lang="en-US"/>
          </a:p>
        </p:txBody>
      </p:sp>
    </p:spTree>
    <p:extLst>
      <p:ext uri="{BB962C8B-B14F-4D97-AF65-F5344CB8AC3E}">
        <p14:creationId xmlns:p14="http://schemas.microsoft.com/office/powerpoint/2010/main" val="2690112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56FFD-E884-44F2-A233-1F373437F3DA}" type="slidenum">
              <a:rPr lang="en-US" smtClean="0"/>
              <a:t>9</a:t>
            </a:fld>
            <a:endParaRPr lang="en-US"/>
          </a:p>
        </p:txBody>
      </p:sp>
    </p:spTree>
    <p:extLst>
      <p:ext uri="{BB962C8B-B14F-4D97-AF65-F5344CB8AC3E}">
        <p14:creationId xmlns:p14="http://schemas.microsoft.com/office/powerpoint/2010/main" val="30063531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7219-8DBD-4AD1-A9C6-F824A6AD719B}"/>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A467AA2-848A-48A0-8B01-102EF7AA2CF8}"/>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9887ECA-493B-4457-8674-4EC65B5535DE}"/>
              </a:ext>
            </a:extLst>
          </p:cNvPr>
          <p:cNvSpPr>
            <a:spLocks noGrp="1"/>
          </p:cNvSpPr>
          <p:nvPr>
            <p:ph type="dt" sz="half" idx="10"/>
          </p:nvPr>
        </p:nvSpPr>
        <p:spPr/>
        <p:txBody>
          <a:bodyPr/>
          <a:lstStyle/>
          <a:p>
            <a:fld id="{06E81E92-9B56-423B-A79E-03C35C849155}" type="datetimeFigureOut">
              <a:rPr lang="en-US" smtClean="0"/>
              <a:t>12/10/2024</a:t>
            </a:fld>
            <a:endParaRPr lang="en-US"/>
          </a:p>
        </p:txBody>
      </p:sp>
      <p:sp>
        <p:nvSpPr>
          <p:cNvPr id="5" name="Footer Placeholder 4">
            <a:extLst>
              <a:ext uri="{FF2B5EF4-FFF2-40B4-BE49-F238E27FC236}">
                <a16:creationId xmlns:a16="http://schemas.microsoft.com/office/drawing/2014/main" id="{DC1DA0B7-3D94-468A-891B-A448DB0682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1832A0-978A-491D-9F71-F0422262A91A}"/>
              </a:ext>
            </a:extLst>
          </p:cNvPr>
          <p:cNvSpPr>
            <a:spLocks noGrp="1"/>
          </p:cNvSpPr>
          <p:nvPr>
            <p:ph type="sldNum" sz="quarter" idx="12"/>
          </p:nvPr>
        </p:nvSpPr>
        <p:spPr/>
        <p:txBody>
          <a:bodyPr/>
          <a:lstStyle/>
          <a:p>
            <a:fld id="{567C75C4-295A-4A9D-8316-BD20FE52AF36}" type="slidenum">
              <a:rPr lang="en-US" smtClean="0"/>
              <a:t>‹#›</a:t>
            </a:fld>
            <a:endParaRPr lang="en-US"/>
          </a:p>
        </p:txBody>
      </p:sp>
      <p:pic>
        <p:nvPicPr>
          <p:cNvPr id="8" name="Picture 7" descr="Text&#10;&#10;Description automatically generated with low confidence">
            <a:extLst>
              <a:ext uri="{FF2B5EF4-FFF2-40B4-BE49-F238E27FC236}">
                <a16:creationId xmlns:a16="http://schemas.microsoft.com/office/drawing/2014/main" id="{90847B30-AD9A-4A40-AAD4-C8EFC665C7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1348952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A51C-2505-46EF-879F-5BBFFAD83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D477AE-3D15-4C6C-B186-E49D5F3E41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F5720C-A1DA-46D9-8FC0-03E948E13056}"/>
              </a:ext>
            </a:extLst>
          </p:cNvPr>
          <p:cNvSpPr>
            <a:spLocks noGrp="1"/>
          </p:cNvSpPr>
          <p:nvPr>
            <p:ph type="dt" sz="half" idx="10"/>
          </p:nvPr>
        </p:nvSpPr>
        <p:spPr/>
        <p:txBody>
          <a:bodyPr/>
          <a:lstStyle/>
          <a:p>
            <a:fld id="{06E81E92-9B56-423B-A79E-03C35C849155}" type="datetimeFigureOut">
              <a:rPr lang="en-US" smtClean="0"/>
              <a:t>12/10/2024</a:t>
            </a:fld>
            <a:endParaRPr lang="en-US"/>
          </a:p>
        </p:txBody>
      </p:sp>
      <p:sp>
        <p:nvSpPr>
          <p:cNvPr id="5" name="Footer Placeholder 4">
            <a:extLst>
              <a:ext uri="{FF2B5EF4-FFF2-40B4-BE49-F238E27FC236}">
                <a16:creationId xmlns:a16="http://schemas.microsoft.com/office/drawing/2014/main" id="{766F8712-2434-4F49-897F-5C30A8014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89305-2E09-4DB1-BC38-411E838B7015}"/>
              </a:ext>
            </a:extLst>
          </p:cNvPr>
          <p:cNvSpPr>
            <a:spLocks noGrp="1"/>
          </p:cNvSpPr>
          <p:nvPr>
            <p:ph type="sldNum" sz="quarter" idx="12"/>
          </p:nvPr>
        </p:nvSpPr>
        <p:spPr/>
        <p:txBody>
          <a:bodyPr/>
          <a:lstStyle/>
          <a:p>
            <a:fld id="{567C75C4-295A-4A9D-8316-BD20FE52AF36}" type="slidenum">
              <a:rPr lang="en-US" smtClean="0"/>
              <a:t>‹#›</a:t>
            </a:fld>
            <a:endParaRPr lang="en-US"/>
          </a:p>
        </p:txBody>
      </p:sp>
      <p:pic>
        <p:nvPicPr>
          <p:cNvPr id="9" name="Picture 8" descr="Text&#10;&#10;Description automatically generated with low confidence">
            <a:extLst>
              <a:ext uri="{FF2B5EF4-FFF2-40B4-BE49-F238E27FC236}">
                <a16:creationId xmlns:a16="http://schemas.microsoft.com/office/drawing/2014/main" id="{ABC48004-5288-46DC-8F14-1A27A59C56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327856202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DA6D-A4B8-44DE-9272-9648C5AA647F}"/>
              </a:ext>
            </a:extLst>
          </p:cNvPr>
          <p:cNvSpPr>
            <a:spLocks noGrp="1"/>
          </p:cNvSpPr>
          <p:nvPr>
            <p:ph type="title"/>
          </p:nvPr>
        </p:nvSpPr>
        <p:spPr>
          <a:xfrm>
            <a:off x="831850" y="1709738"/>
            <a:ext cx="10515600" cy="2852737"/>
          </a:xfrm>
          <a:solidFill>
            <a:srgbClr val="153B48"/>
          </a:solidFill>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A64E249B-F814-4002-ABFC-67743DA1DCFD}"/>
              </a:ext>
            </a:extLst>
          </p:cNvPr>
          <p:cNvSpPr>
            <a:spLocks noGrp="1"/>
          </p:cNvSpPr>
          <p:nvPr>
            <p:ph type="body" idx="1"/>
          </p:nvPr>
        </p:nvSpPr>
        <p:spPr>
          <a:xfrm>
            <a:off x="831850" y="4589463"/>
            <a:ext cx="10515600" cy="1500187"/>
          </a:xfrm>
          <a:solidFill>
            <a:srgbClr val="153B48"/>
          </a:solidFill>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5F93EB-BBC0-4B6E-A3D3-1FB85A4D8C1F}"/>
              </a:ext>
            </a:extLst>
          </p:cNvPr>
          <p:cNvSpPr>
            <a:spLocks noGrp="1"/>
          </p:cNvSpPr>
          <p:nvPr>
            <p:ph type="dt" sz="half" idx="10"/>
          </p:nvPr>
        </p:nvSpPr>
        <p:spPr>
          <a:solidFill>
            <a:srgbClr val="153B48"/>
          </a:solidFill>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5" name="Footer Placeholder 4">
            <a:extLst>
              <a:ext uri="{FF2B5EF4-FFF2-40B4-BE49-F238E27FC236}">
                <a16:creationId xmlns:a16="http://schemas.microsoft.com/office/drawing/2014/main" id="{B4BFDBBE-93D5-4CE8-95D1-5BD984C3792C}"/>
              </a:ext>
            </a:extLst>
          </p:cNvPr>
          <p:cNvSpPr>
            <a:spLocks noGrp="1"/>
          </p:cNvSpPr>
          <p:nvPr>
            <p:ph type="ftr" sz="quarter" idx="11"/>
          </p:nvPr>
        </p:nvSpPr>
        <p:spPr>
          <a:solidFill>
            <a:srgbClr val="153B48"/>
          </a:solidFill>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919D0E19-E974-479F-951C-DD40BBE97BFD}"/>
              </a:ext>
            </a:extLst>
          </p:cNvPr>
          <p:cNvSpPr>
            <a:spLocks noGrp="1"/>
          </p:cNvSpPr>
          <p:nvPr>
            <p:ph type="sldNum" sz="quarter" idx="12"/>
          </p:nvPr>
        </p:nvSpPr>
        <p:spPr>
          <a:solidFill>
            <a:srgbClr val="153B48"/>
          </a:solidFill>
        </p:spPr>
        <p:txBody>
          <a:bodyPr/>
          <a:lstStyle>
            <a:lvl1pPr>
              <a:defRPr>
                <a:solidFill>
                  <a:schemeClr val="bg1"/>
                </a:solidFill>
              </a:defRPr>
            </a:lvl1pPr>
          </a:lstStyle>
          <a:p>
            <a:fld id="{567C75C4-295A-4A9D-8316-BD20FE52AF36}" type="slidenum">
              <a:rPr lang="en-US" smtClean="0"/>
              <a:pPr/>
              <a:t>‹#›</a:t>
            </a:fld>
            <a:endParaRPr lang="en-US"/>
          </a:p>
        </p:txBody>
      </p:sp>
      <p:pic>
        <p:nvPicPr>
          <p:cNvPr id="8" name="Picture 7" descr="Text&#10;&#10;Description automatically generated with low confidence">
            <a:extLst>
              <a:ext uri="{FF2B5EF4-FFF2-40B4-BE49-F238E27FC236}">
                <a16:creationId xmlns:a16="http://schemas.microsoft.com/office/drawing/2014/main" id="{1E846C1D-DB66-4B23-82F2-BF570E4E6C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2813617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2C7EE-C6CA-4AEE-8845-CF380DD0405B}"/>
              </a:ext>
            </a:extLst>
          </p:cNvPr>
          <p:cNvSpPr>
            <a:spLocks noGrp="1"/>
          </p:cNvSpPr>
          <p:nvPr>
            <p:ph type="title"/>
          </p:nvPr>
        </p:nvSpPr>
        <p:spPr>
          <a:solidFill>
            <a:srgbClr val="153B48"/>
          </a:solidFill>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B12E0B5-3362-4013-8BAC-5A3E55EB1425}"/>
              </a:ext>
            </a:extLst>
          </p:cNvPr>
          <p:cNvSpPr>
            <a:spLocks noGrp="1"/>
          </p:cNvSpPr>
          <p:nvPr>
            <p:ph sz="half" idx="1"/>
          </p:nvPr>
        </p:nvSpPr>
        <p:spPr>
          <a:xfrm>
            <a:off x="838200" y="1825625"/>
            <a:ext cx="5181600" cy="4351338"/>
          </a:xfrm>
          <a:solidFill>
            <a:srgbClr val="153B48"/>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097466-7591-4849-A535-5AE88CDD7A96}"/>
              </a:ext>
            </a:extLst>
          </p:cNvPr>
          <p:cNvSpPr>
            <a:spLocks noGrp="1"/>
          </p:cNvSpPr>
          <p:nvPr>
            <p:ph sz="half" idx="2"/>
          </p:nvPr>
        </p:nvSpPr>
        <p:spPr>
          <a:xfrm>
            <a:off x="6172200" y="1825625"/>
            <a:ext cx="5181600" cy="4351338"/>
          </a:xfrm>
          <a:solidFill>
            <a:srgbClr val="153B48"/>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49A80B-CEDF-4315-A2B2-1F84FC6232EB}"/>
              </a:ext>
            </a:extLst>
          </p:cNvPr>
          <p:cNvSpPr>
            <a:spLocks noGrp="1"/>
          </p:cNvSpPr>
          <p:nvPr>
            <p:ph type="dt" sz="half" idx="10"/>
          </p:nvPr>
        </p:nvSpPr>
        <p:spPr>
          <a:solidFill>
            <a:srgbClr val="153B48"/>
          </a:solidFill>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6" name="Footer Placeholder 5">
            <a:extLst>
              <a:ext uri="{FF2B5EF4-FFF2-40B4-BE49-F238E27FC236}">
                <a16:creationId xmlns:a16="http://schemas.microsoft.com/office/drawing/2014/main" id="{3F85DB8D-F273-4FB1-ABE9-8007BF317CF0}"/>
              </a:ext>
            </a:extLst>
          </p:cNvPr>
          <p:cNvSpPr>
            <a:spLocks noGrp="1"/>
          </p:cNvSpPr>
          <p:nvPr>
            <p:ph type="ftr" sz="quarter" idx="11"/>
          </p:nvPr>
        </p:nvSpPr>
        <p:spPr>
          <a:solidFill>
            <a:srgbClr val="153B48"/>
          </a:solidFill>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C42E40E3-920A-44E4-B478-9EB3CF82F870}"/>
              </a:ext>
            </a:extLst>
          </p:cNvPr>
          <p:cNvSpPr>
            <a:spLocks noGrp="1"/>
          </p:cNvSpPr>
          <p:nvPr>
            <p:ph type="sldNum" sz="quarter" idx="12"/>
          </p:nvPr>
        </p:nvSpPr>
        <p:spPr>
          <a:solidFill>
            <a:srgbClr val="153B48"/>
          </a:solidFill>
        </p:spPr>
        <p:txBody>
          <a:bodyPr/>
          <a:lstStyle>
            <a:lvl1pPr>
              <a:defRPr>
                <a:solidFill>
                  <a:schemeClr val="bg1"/>
                </a:solidFill>
              </a:defRPr>
            </a:lvl1pPr>
          </a:lstStyle>
          <a:p>
            <a:fld id="{567C75C4-295A-4A9D-8316-BD20FE52AF36}" type="slidenum">
              <a:rPr lang="en-US" smtClean="0"/>
              <a:pPr/>
              <a:t>‹#›</a:t>
            </a:fld>
            <a:endParaRPr lang="en-US"/>
          </a:p>
        </p:txBody>
      </p:sp>
      <p:pic>
        <p:nvPicPr>
          <p:cNvPr id="9" name="Picture 8" descr="Text&#10;&#10;Description automatically generated with low confidence">
            <a:extLst>
              <a:ext uri="{FF2B5EF4-FFF2-40B4-BE49-F238E27FC236}">
                <a16:creationId xmlns:a16="http://schemas.microsoft.com/office/drawing/2014/main" id="{8823FFAB-BFC9-47F4-9DF9-D1BE58DC52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1603009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DA01-D109-40F0-B075-3C440741C2A1}"/>
              </a:ext>
            </a:extLst>
          </p:cNvPr>
          <p:cNvSpPr>
            <a:spLocks noGrp="1"/>
          </p:cNvSpPr>
          <p:nvPr>
            <p:ph type="title"/>
          </p:nvPr>
        </p:nvSpPr>
        <p:spPr>
          <a:xfrm>
            <a:off x="839788" y="365125"/>
            <a:ext cx="10515600" cy="1325563"/>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1854FA8-23D9-447A-91CD-89B50D56E42F}"/>
              </a:ext>
            </a:extLst>
          </p:cNvPr>
          <p:cNvSpPr>
            <a:spLocks noGrp="1"/>
          </p:cNvSpPr>
          <p:nvPr>
            <p:ph type="body" idx="1"/>
          </p:nvPr>
        </p:nvSpPr>
        <p:spPr>
          <a:xfrm>
            <a:off x="839788" y="16811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E350B0-2E5B-4ACC-A183-38D86508793D}"/>
              </a:ext>
            </a:extLst>
          </p:cNvPr>
          <p:cNvSpPr>
            <a:spLocks noGrp="1"/>
          </p:cNvSpPr>
          <p:nvPr>
            <p:ph sz="half" idx="2"/>
          </p:nvPr>
        </p:nvSpPr>
        <p:spPr>
          <a:xfrm>
            <a:off x="839788" y="2505075"/>
            <a:ext cx="5157787"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E34496-76E0-4210-A89F-7D71FECEFDE7}"/>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DD8597-2AD4-4C12-A326-A7995D77D026}"/>
              </a:ext>
            </a:extLst>
          </p:cNvPr>
          <p:cNvSpPr>
            <a:spLocks noGrp="1"/>
          </p:cNvSpPr>
          <p:nvPr>
            <p:ph sz="quarter" idx="4"/>
          </p:nvPr>
        </p:nvSpPr>
        <p:spPr>
          <a:xfrm>
            <a:off x="6172200" y="2505075"/>
            <a:ext cx="5183188"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66D8B8-8719-452A-B2A3-A3993257E129}"/>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8" name="Footer Placeholder 7">
            <a:extLst>
              <a:ext uri="{FF2B5EF4-FFF2-40B4-BE49-F238E27FC236}">
                <a16:creationId xmlns:a16="http://schemas.microsoft.com/office/drawing/2014/main" id="{16D61F4E-2622-4C49-913A-AF303A4D7346}"/>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D70D4F7F-01B5-489B-BD70-E29CDFA53660}"/>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11" name="Picture 10" descr="Text&#10;&#10;Description automatically generated with low confidence">
            <a:extLst>
              <a:ext uri="{FF2B5EF4-FFF2-40B4-BE49-F238E27FC236}">
                <a16:creationId xmlns:a16="http://schemas.microsoft.com/office/drawing/2014/main" id="{8C18F87F-3590-40D0-B545-FAF59726DF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5631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B2785-4D4E-4C88-A3C2-54AF51C513E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14F24F0-2FB0-44AA-B5F6-41AF2897BDC3}"/>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4" name="Footer Placeholder 3">
            <a:extLst>
              <a:ext uri="{FF2B5EF4-FFF2-40B4-BE49-F238E27FC236}">
                <a16:creationId xmlns:a16="http://schemas.microsoft.com/office/drawing/2014/main" id="{64FD3B5E-BB00-4C6F-A69F-7867F76E5F9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24BC255D-7FB9-4B3D-A6D8-BAC9F0B378AE}"/>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7" name="Picture 6" descr="Text&#10;&#10;Description automatically generated with low confidence">
            <a:extLst>
              <a:ext uri="{FF2B5EF4-FFF2-40B4-BE49-F238E27FC236}">
                <a16:creationId xmlns:a16="http://schemas.microsoft.com/office/drawing/2014/main" id="{3CDDB391-9718-4105-9DBE-28478988BA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281068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53B48"/>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81A9D-7D82-4BD4-82E4-636F6237E6E7}"/>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3" name="Footer Placeholder 2">
            <a:extLst>
              <a:ext uri="{FF2B5EF4-FFF2-40B4-BE49-F238E27FC236}">
                <a16:creationId xmlns:a16="http://schemas.microsoft.com/office/drawing/2014/main" id="{61475601-2A95-455E-A956-397FFB0AF821}"/>
              </a:ext>
            </a:extLst>
          </p:cNvPr>
          <p:cNvSpPr>
            <a:spLocks noGrp="1"/>
          </p:cNvSpPr>
          <p:nvPr>
            <p:ph type="ftr" sz="quarter" idx="11"/>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B9ED79E9-AC15-4969-82FF-AD1BF927CD1B}"/>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6" name="Picture 5" descr="Text&#10;&#10;Description automatically generated with low confidence">
            <a:extLst>
              <a:ext uri="{FF2B5EF4-FFF2-40B4-BE49-F238E27FC236}">
                <a16:creationId xmlns:a16="http://schemas.microsoft.com/office/drawing/2014/main" id="{9427F8A3-1594-433A-AABC-BFA073D10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2939990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D139-182F-4AE8-A57B-B9F89F6F5BDD}"/>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A6CB468-EC26-42BF-B38C-D426271FFF85}"/>
              </a:ext>
            </a:extLst>
          </p:cNvPr>
          <p:cNvSpPr>
            <a:spLocks noGrp="1"/>
          </p:cNvSpPr>
          <p:nvPr>
            <p:ph idx="1"/>
          </p:nvPr>
        </p:nvSpPr>
        <p:spPr>
          <a:xfrm>
            <a:off x="5183188" y="987425"/>
            <a:ext cx="6172200" cy="4873625"/>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DCCB6D-C3F2-4258-BDB1-CE5DD9F9315B}"/>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CC0DD-B079-45B2-8CD7-F60460DA6536}"/>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6" name="Footer Placeholder 5">
            <a:extLst>
              <a:ext uri="{FF2B5EF4-FFF2-40B4-BE49-F238E27FC236}">
                <a16:creationId xmlns:a16="http://schemas.microsoft.com/office/drawing/2014/main" id="{A26F0223-AB84-4F32-AFD0-3A24D9AD9EA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21E59B20-D76F-422B-8DEB-D39576BD612D}"/>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9" name="Picture 8" descr="Text&#10;&#10;Description automatically generated with low confidence">
            <a:extLst>
              <a:ext uri="{FF2B5EF4-FFF2-40B4-BE49-F238E27FC236}">
                <a16:creationId xmlns:a16="http://schemas.microsoft.com/office/drawing/2014/main" id="{EE225BB3-672C-41EF-8BFC-D6A4F0B607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352373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C7832-6FAC-476B-B5E7-97DE754E2AE1}"/>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94C8673-9169-4CF5-9FDC-72C4F44F67C3}"/>
              </a:ext>
            </a:extLst>
          </p:cNvPr>
          <p:cNvSpPr>
            <a:spLocks noGrp="1"/>
          </p:cNvSpPr>
          <p:nvPr>
            <p:ph type="pic" idx="1"/>
          </p:nvPr>
        </p:nvSpPr>
        <p:spPr>
          <a:xfrm>
            <a:off x="5183188" y="987425"/>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BD9B35-6890-49EC-94FF-4697409D8F31}"/>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3DF2E8-E113-4C28-B0B1-64C791BB32B4}"/>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6" name="Footer Placeholder 5">
            <a:extLst>
              <a:ext uri="{FF2B5EF4-FFF2-40B4-BE49-F238E27FC236}">
                <a16:creationId xmlns:a16="http://schemas.microsoft.com/office/drawing/2014/main" id="{29DFB35A-31AE-4A63-8D8C-00F1CE6A73B2}"/>
              </a:ext>
            </a:extLst>
          </p:cNvPr>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8848CF07-56BA-4259-9CFF-307F105D908A}"/>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9" name="Picture 8" descr="Text&#10;&#10;Description automatically generated with low confidence">
            <a:extLst>
              <a:ext uri="{FF2B5EF4-FFF2-40B4-BE49-F238E27FC236}">
                <a16:creationId xmlns:a16="http://schemas.microsoft.com/office/drawing/2014/main" id="{568A55D3-C9AD-4380-AAC1-ADBAD5BE3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95634" y="264770"/>
            <a:ext cx="2057687" cy="533474"/>
          </a:xfrm>
          <a:prstGeom prst="rect">
            <a:avLst/>
          </a:prstGeom>
        </p:spPr>
      </p:pic>
    </p:spTree>
    <p:extLst>
      <p:ext uri="{BB962C8B-B14F-4D97-AF65-F5344CB8AC3E}">
        <p14:creationId xmlns:p14="http://schemas.microsoft.com/office/powerpoint/2010/main" val="510917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153B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824D-7E56-46BE-A35F-A321A5615C1F}"/>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2754D975-3EAE-4F7D-93E7-4960493B1079}"/>
              </a:ext>
            </a:extLst>
          </p:cNvPr>
          <p:cNvSpPr>
            <a:spLocks noGrp="1"/>
          </p:cNvSpPr>
          <p:nvPr>
            <p:ph type="body" orient="vert" idx="1"/>
          </p:nvPr>
        </p:nvSpPr>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F2CD27-A7E3-442B-9FD8-F02ACD4147E9}"/>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5" name="Footer Placeholder 4">
            <a:extLst>
              <a:ext uri="{FF2B5EF4-FFF2-40B4-BE49-F238E27FC236}">
                <a16:creationId xmlns:a16="http://schemas.microsoft.com/office/drawing/2014/main" id="{49391ED8-249C-4593-B2F9-8C1DE0EB0E11}"/>
              </a:ext>
            </a:extLst>
          </p:cNvPr>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0F41F71F-7F07-4C54-8666-B3F96F1D5E68}"/>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8" name="Picture 7" descr="Text&#10;&#10;Description automatically generated with low confidence">
            <a:extLst>
              <a:ext uri="{FF2B5EF4-FFF2-40B4-BE49-F238E27FC236}">
                <a16:creationId xmlns:a16="http://schemas.microsoft.com/office/drawing/2014/main" id="{75AA6D3F-194C-4248-BD47-7045C12C51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10782156" y="5243332"/>
            <a:ext cx="2057687" cy="533474"/>
          </a:xfrm>
          <a:prstGeom prst="rect">
            <a:avLst/>
          </a:prstGeom>
        </p:spPr>
      </p:pic>
    </p:spTree>
    <p:extLst>
      <p:ext uri="{BB962C8B-B14F-4D97-AF65-F5344CB8AC3E}">
        <p14:creationId xmlns:p14="http://schemas.microsoft.com/office/powerpoint/2010/main" val="562810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153B48"/>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6CD62-399B-4533-9DB5-5E5A95AF8FEA}"/>
              </a:ext>
            </a:extLst>
          </p:cNvPr>
          <p:cNvSpPr>
            <a:spLocks noGrp="1"/>
          </p:cNvSpPr>
          <p:nvPr>
            <p:ph type="title" orient="vert"/>
          </p:nvPr>
        </p:nvSpPr>
        <p:spPr>
          <a:xfrm>
            <a:off x="8724900" y="365125"/>
            <a:ext cx="2628900" cy="5811838"/>
          </a:xfrm>
        </p:spPr>
        <p:txBody>
          <a:bodyPr vert="eaVert"/>
          <a:lstStyle>
            <a:lvl1pPr>
              <a:defRPr>
                <a:solidFill>
                  <a:schemeClr val="bg1"/>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AEBC9F04-9199-4EB2-B391-A02A48108E43}"/>
              </a:ext>
            </a:extLst>
          </p:cNvPr>
          <p:cNvSpPr>
            <a:spLocks noGrp="1"/>
          </p:cNvSpPr>
          <p:nvPr>
            <p:ph type="body" orient="vert" idx="1"/>
          </p:nvPr>
        </p:nvSpPr>
        <p:spPr>
          <a:xfrm>
            <a:off x="838200" y="365125"/>
            <a:ext cx="7734300" cy="5811838"/>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4F97E0-A5A8-48DF-88D8-DB4802CB6636}"/>
              </a:ext>
            </a:extLst>
          </p:cNvPr>
          <p:cNvSpPr>
            <a:spLocks noGrp="1"/>
          </p:cNvSpPr>
          <p:nvPr>
            <p:ph type="dt" sz="half" idx="10"/>
          </p:nvPr>
        </p:nvSpPr>
        <p:spPr/>
        <p:txBody>
          <a:bodyPr/>
          <a:lstStyle>
            <a:lvl1pPr>
              <a:defRPr>
                <a:solidFill>
                  <a:schemeClr val="bg1"/>
                </a:solidFill>
              </a:defRPr>
            </a:lvl1pPr>
          </a:lstStyle>
          <a:p>
            <a:fld id="{06E81E92-9B56-423B-A79E-03C35C849155}" type="datetimeFigureOut">
              <a:rPr lang="en-US" smtClean="0"/>
              <a:pPr/>
              <a:t>12/10/2024</a:t>
            </a:fld>
            <a:endParaRPr lang="en-US"/>
          </a:p>
        </p:txBody>
      </p:sp>
      <p:sp>
        <p:nvSpPr>
          <p:cNvPr id="5" name="Footer Placeholder 4">
            <a:extLst>
              <a:ext uri="{FF2B5EF4-FFF2-40B4-BE49-F238E27FC236}">
                <a16:creationId xmlns:a16="http://schemas.microsoft.com/office/drawing/2014/main" id="{19D5ADBA-B78A-4F25-A9FB-7605F798C8F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30713B57-917F-4D26-9528-9C6D7EF2DF71}"/>
              </a:ext>
            </a:extLst>
          </p:cNvPr>
          <p:cNvSpPr>
            <a:spLocks noGrp="1"/>
          </p:cNvSpPr>
          <p:nvPr>
            <p:ph type="sldNum" sz="quarter" idx="12"/>
          </p:nvPr>
        </p:nvSpPr>
        <p:spPr/>
        <p:txBody>
          <a:bodyPr/>
          <a:lstStyle>
            <a:lvl1pPr>
              <a:defRPr>
                <a:solidFill>
                  <a:schemeClr val="bg1"/>
                </a:solidFill>
              </a:defRPr>
            </a:lvl1pPr>
          </a:lstStyle>
          <a:p>
            <a:fld id="{567C75C4-295A-4A9D-8316-BD20FE52AF36}" type="slidenum">
              <a:rPr lang="en-US" smtClean="0"/>
              <a:pPr/>
              <a:t>‹#›</a:t>
            </a:fld>
            <a:endParaRPr lang="en-US"/>
          </a:p>
        </p:txBody>
      </p:sp>
      <p:pic>
        <p:nvPicPr>
          <p:cNvPr id="8" name="Picture 7" descr="Text&#10;&#10;Description automatically generated with low confidence">
            <a:extLst>
              <a:ext uri="{FF2B5EF4-FFF2-40B4-BE49-F238E27FC236}">
                <a16:creationId xmlns:a16="http://schemas.microsoft.com/office/drawing/2014/main" id="{092147A1-9531-4554-A153-AA5AA95D4C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10744094" y="5425895"/>
            <a:ext cx="2057687" cy="533474"/>
          </a:xfrm>
          <a:prstGeom prst="rect">
            <a:avLst/>
          </a:prstGeom>
        </p:spPr>
      </p:pic>
    </p:spTree>
    <p:extLst>
      <p:ext uri="{BB962C8B-B14F-4D97-AF65-F5344CB8AC3E}">
        <p14:creationId xmlns:p14="http://schemas.microsoft.com/office/powerpoint/2010/main" val="4039640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53B4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D64081-8E8D-4DE7-907B-52FE075CB7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7EF10C-8B3F-4F61-89EC-14F09F588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14229D-ABE9-4561-801D-1C0148B64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06E81E92-9B56-423B-A79E-03C35C849155}" type="datetimeFigureOut">
              <a:rPr lang="en-US" smtClean="0"/>
              <a:pPr/>
              <a:t>12/10/2024</a:t>
            </a:fld>
            <a:endParaRPr lang="en-US"/>
          </a:p>
        </p:txBody>
      </p:sp>
      <p:sp>
        <p:nvSpPr>
          <p:cNvPr id="5" name="Footer Placeholder 4">
            <a:extLst>
              <a:ext uri="{FF2B5EF4-FFF2-40B4-BE49-F238E27FC236}">
                <a16:creationId xmlns:a16="http://schemas.microsoft.com/office/drawing/2014/main" id="{F5A20BE3-D703-4011-9D66-4513919431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292200B6-4BF6-4DE2-A6D5-EF5462A06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567C75C4-295A-4A9D-8316-BD20FE52AF36}" type="slidenum">
              <a:rPr lang="en-US" smtClean="0"/>
              <a:pPr/>
              <a:t>‹#›</a:t>
            </a:fld>
            <a:endParaRPr lang="en-US"/>
          </a:p>
        </p:txBody>
      </p:sp>
    </p:spTree>
    <p:extLst>
      <p:ext uri="{BB962C8B-B14F-4D97-AF65-F5344CB8AC3E}">
        <p14:creationId xmlns:p14="http://schemas.microsoft.com/office/powerpoint/2010/main" val="1378987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hyperlink" Target="https://easttennessee.iiba.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4FF8-0543-4347-906B-21BB006E258F}"/>
              </a:ext>
            </a:extLst>
          </p:cNvPr>
          <p:cNvSpPr>
            <a:spLocks noGrp="1"/>
          </p:cNvSpPr>
          <p:nvPr>
            <p:ph type="ctrTitle"/>
          </p:nvPr>
        </p:nvSpPr>
        <p:spPr>
          <a:xfrm>
            <a:off x="1075189" y="1999056"/>
            <a:ext cx="10041622" cy="1788384"/>
          </a:xfrm>
        </p:spPr>
        <p:txBody>
          <a:bodyPr>
            <a:normAutofit/>
          </a:bodyPr>
          <a:lstStyle/>
          <a:p>
            <a:r>
              <a:rPr lang="en-US" sz="5400" b="1" dirty="0">
                <a:solidFill>
                  <a:schemeClr val="accent2"/>
                </a:solidFill>
              </a:rPr>
              <a:t>IIBA East Tennessee</a:t>
            </a:r>
            <a:br>
              <a:rPr lang="en-US" sz="5400" b="1" dirty="0">
                <a:solidFill>
                  <a:schemeClr val="accent2"/>
                </a:solidFill>
              </a:rPr>
            </a:br>
            <a:r>
              <a:rPr lang="en-US" sz="5400" b="1" dirty="0">
                <a:solidFill>
                  <a:schemeClr val="accent2"/>
                </a:solidFill>
              </a:rPr>
              <a:t>Members Meeting</a:t>
            </a:r>
          </a:p>
        </p:txBody>
      </p:sp>
      <p:sp>
        <p:nvSpPr>
          <p:cNvPr id="3" name="Subtitle 2">
            <a:extLst>
              <a:ext uri="{FF2B5EF4-FFF2-40B4-BE49-F238E27FC236}">
                <a16:creationId xmlns:a16="http://schemas.microsoft.com/office/drawing/2014/main" id="{773F1C8B-9E41-45C4-8B02-EB6BE3648E23}"/>
              </a:ext>
            </a:extLst>
          </p:cNvPr>
          <p:cNvSpPr>
            <a:spLocks noGrp="1"/>
          </p:cNvSpPr>
          <p:nvPr>
            <p:ph type="subTitle" idx="1"/>
          </p:nvPr>
        </p:nvSpPr>
        <p:spPr>
          <a:xfrm>
            <a:off x="1416341" y="3838496"/>
            <a:ext cx="9144000" cy="1137138"/>
          </a:xfrm>
        </p:spPr>
        <p:txBody>
          <a:bodyPr/>
          <a:lstStyle/>
          <a:p>
            <a:r>
              <a:rPr lang="en-US" sz="3200" b="1" dirty="0"/>
              <a:t>December 10, 2024</a:t>
            </a:r>
          </a:p>
          <a:p>
            <a:r>
              <a:rPr lang="en-US" b="1" dirty="0">
                <a:solidFill>
                  <a:schemeClr val="accent4"/>
                </a:solidFill>
              </a:rPr>
              <a:t>7:00 – 8:00 PM EST</a:t>
            </a:r>
          </a:p>
        </p:txBody>
      </p:sp>
    </p:spTree>
    <p:extLst>
      <p:ext uri="{BB962C8B-B14F-4D97-AF65-F5344CB8AC3E}">
        <p14:creationId xmlns:p14="http://schemas.microsoft.com/office/powerpoint/2010/main" val="2316286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AB81B-3AEC-4B90-B02A-CB1B02E473DC}"/>
              </a:ext>
            </a:extLst>
          </p:cNvPr>
          <p:cNvSpPr>
            <a:spLocks noGrp="1"/>
          </p:cNvSpPr>
          <p:nvPr>
            <p:ph type="title"/>
          </p:nvPr>
        </p:nvSpPr>
        <p:spPr>
          <a:xfrm>
            <a:off x="838200" y="419989"/>
            <a:ext cx="10515600" cy="1325563"/>
          </a:xfrm>
        </p:spPr>
        <p:txBody>
          <a:bodyPr/>
          <a:lstStyle/>
          <a:p>
            <a:r>
              <a:rPr lang="en-US" b="1" dirty="0">
                <a:solidFill>
                  <a:schemeClr val="accent2"/>
                </a:solidFill>
              </a:rPr>
              <a:t>Agenda</a:t>
            </a:r>
          </a:p>
        </p:txBody>
      </p:sp>
      <p:sp>
        <p:nvSpPr>
          <p:cNvPr id="4" name="Content Placeholder 3">
            <a:extLst>
              <a:ext uri="{FF2B5EF4-FFF2-40B4-BE49-F238E27FC236}">
                <a16:creationId xmlns:a16="http://schemas.microsoft.com/office/drawing/2014/main" id="{3BE1D1C8-8501-4D05-89D8-3134C2FFA68B}"/>
              </a:ext>
            </a:extLst>
          </p:cNvPr>
          <p:cNvSpPr>
            <a:spLocks noGrp="1"/>
          </p:cNvSpPr>
          <p:nvPr>
            <p:ph idx="1"/>
          </p:nvPr>
        </p:nvSpPr>
        <p:spPr>
          <a:xfrm>
            <a:off x="900953" y="1511860"/>
            <a:ext cx="10515600" cy="4351338"/>
          </a:xfrm>
        </p:spPr>
        <p:txBody>
          <a:bodyPr>
            <a:normAutofit lnSpcReduction="10000"/>
          </a:bodyPr>
          <a:lstStyle/>
          <a:p>
            <a:r>
              <a:rPr lang="en-US" sz="3700" dirty="0"/>
              <a:t>Overview</a:t>
            </a:r>
          </a:p>
          <a:p>
            <a:r>
              <a:rPr lang="en-US" sz="3700" dirty="0"/>
              <a:t>Thank You!</a:t>
            </a:r>
          </a:p>
          <a:p>
            <a:r>
              <a:rPr lang="en-US" sz="3700" dirty="0"/>
              <a:t>2024 Quick Review</a:t>
            </a:r>
          </a:p>
          <a:p>
            <a:r>
              <a:rPr lang="en-US" sz="3700" dirty="0"/>
              <a:t>2025 Planning</a:t>
            </a:r>
          </a:p>
          <a:p>
            <a:r>
              <a:rPr lang="en-US" sz="3700" dirty="0"/>
              <a:t>Chapter Leadership Overview</a:t>
            </a:r>
          </a:p>
          <a:p>
            <a:r>
              <a:rPr lang="en-US" sz="3700" dirty="0"/>
              <a:t>Volunteering</a:t>
            </a:r>
          </a:p>
          <a:p>
            <a:r>
              <a:rPr lang="en-US" sz="3700" dirty="0"/>
              <a:t>Next Steps</a:t>
            </a:r>
          </a:p>
          <a:p>
            <a:endParaRPr lang="en-US" dirty="0"/>
          </a:p>
        </p:txBody>
      </p:sp>
    </p:spTree>
    <p:extLst>
      <p:ext uri="{BB962C8B-B14F-4D97-AF65-F5344CB8AC3E}">
        <p14:creationId xmlns:p14="http://schemas.microsoft.com/office/powerpoint/2010/main" val="1351803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4A0807D-70BA-C2C2-B8F2-7EF47E535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75" y="217602"/>
            <a:ext cx="2295808" cy="22958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3577737-DEEC-45FE-7DD1-A1C03CDD901C}"/>
              </a:ext>
            </a:extLst>
          </p:cNvPr>
          <p:cNvSpPr txBox="1"/>
          <p:nvPr/>
        </p:nvSpPr>
        <p:spPr>
          <a:xfrm>
            <a:off x="-179351" y="2493004"/>
            <a:ext cx="3048000" cy="677108"/>
          </a:xfrm>
          <a:prstGeom prst="rect">
            <a:avLst/>
          </a:prstGeom>
          <a:noFill/>
        </p:spPr>
        <p:txBody>
          <a:bodyPr wrap="square">
            <a:spAutoFit/>
          </a:bodyPr>
          <a:lstStyle/>
          <a:p>
            <a:pPr algn="ctr"/>
            <a:r>
              <a:rPr lang="en-US" sz="2000" b="1" dirty="0">
                <a:solidFill>
                  <a:schemeClr val="accent2"/>
                </a:solidFill>
              </a:rPr>
              <a:t>Courtney Bramlett</a:t>
            </a:r>
          </a:p>
          <a:p>
            <a:pPr algn="ctr"/>
            <a:r>
              <a:rPr lang="en-US" dirty="0">
                <a:solidFill>
                  <a:schemeClr val="accent2"/>
                </a:solidFill>
              </a:rPr>
              <a:t>Treasurer</a:t>
            </a:r>
          </a:p>
        </p:txBody>
      </p:sp>
      <p:pic>
        <p:nvPicPr>
          <p:cNvPr id="1030" name="Picture 6">
            <a:extLst>
              <a:ext uri="{FF2B5EF4-FFF2-40B4-BE49-F238E27FC236}">
                <a16:creationId xmlns:a16="http://schemas.microsoft.com/office/drawing/2014/main" id="{DF38CD1D-A568-551F-0152-91B53A31D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8257" y="217602"/>
            <a:ext cx="2295808" cy="22958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D9392F4-D7AB-4746-7FB3-5662E08D9BF1}"/>
              </a:ext>
            </a:extLst>
          </p:cNvPr>
          <p:cNvSpPr txBox="1"/>
          <p:nvPr/>
        </p:nvSpPr>
        <p:spPr>
          <a:xfrm>
            <a:off x="3309515" y="2474893"/>
            <a:ext cx="3048000" cy="954107"/>
          </a:xfrm>
          <a:prstGeom prst="rect">
            <a:avLst/>
          </a:prstGeom>
          <a:noFill/>
        </p:spPr>
        <p:txBody>
          <a:bodyPr wrap="square">
            <a:spAutoFit/>
          </a:bodyPr>
          <a:lstStyle/>
          <a:p>
            <a:pPr algn="ctr"/>
            <a:r>
              <a:rPr lang="en-US" sz="2000" b="1" dirty="0">
                <a:solidFill>
                  <a:schemeClr val="accent2"/>
                </a:solidFill>
              </a:rPr>
              <a:t>Jordan Eisenback</a:t>
            </a:r>
          </a:p>
          <a:p>
            <a:pPr algn="ctr"/>
            <a:r>
              <a:rPr lang="en-US" dirty="0">
                <a:solidFill>
                  <a:schemeClr val="accent2"/>
                </a:solidFill>
              </a:rPr>
              <a:t>VP – Communications &amp; Marketing</a:t>
            </a:r>
          </a:p>
        </p:txBody>
      </p:sp>
      <p:pic>
        <p:nvPicPr>
          <p:cNvPr id="1032" name="Picture 8">
            <a:extLst>
              <a:ext uri="{FF2B5EF4-FFF2-40B4-BE49-F238E27FC236}">
                <a16:creationId xmlns:a16="http://schemas.microsoft.com/office/drawing/2014/main" id="{969AFDD6-6960-07E9-8991-88BBB705E1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246" y="217602"/>
            <a:ext cx="1534101" cy="22993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189AC1E-128C-69D1-7E49-84E3B74D07AD}"/>
              </a:ext>
            </a:extLst>
          </p:cNvPr>
          <p:cNvSpPr txBox="1"/>
          <p:nvPr/>
        </p:nvSpPr>
        <p:spPr>
          <a:xfrm>
            <a:off x="6482296" y="2474892"/>
            <a:ext cx="3048000" cy="954107"/>
          </a:xfrm>
          <a:prstGeom prst="rect">
            <a:avLst/>
          </a:prstGeom>
          <a:noFill/>
        </p:spPr>
        <p:txBody>
          <a:bodyPr wrap="square">
            <a:spAutoFit/>
          </a:bodyPr>
          <a:lstStyle/>
          <a:p>
            <a:pPr algn="ctr"/>
            <a:r>
              <a:rPr lang="en-US" sz="2000" b="1" dirty="0">
                <a:solidFill>
                  <a:schemeClr val="accent2"/>
                </a:solidFill>
              </a:rPr>
              <a:t>Shawnice Beard</a:t>
            </a:r>
          </a:p>
          <a:p>
            <a:pPr algn="ctr"/>
            <a:r>
              <a:rPr lang="en-US" dirty="0">
                <a:solidFill>
                  <a:schemeClr val="accent2"/>
                </a:solidFill>
              </a:rPr>
              <a:t>VP – Professional Development</a:t>
            </a:r>
          </a:p>
        </p:txBody>
      </p:sp>
      <p:pic>
        <p:nvPicPr>
          <p:cNvPr id="1034" name="Picture 10">
            <a:extLst>
              <a:ext uri="{FF2B5EF4-FFF2-40B4-BE49-F238E27FC236}">
                <a16:creationId xmlns:a16="http://schemas.microsoft.com/office/drawing/2014/main" id="{BA4470A8-4F56-FEFE-3B4A-00BD76F95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4524" y="3622796"/>
            <a:ext cx="2295809" cy="22958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D8F810-8C24-0EEA-2CBE-63BF1FF5CE92}"/>
              </a:ext>
            </a:extLst>
          </p:cNvPr>
          <p:cNvSpPr txBox="1"/>
          <p:nvPr/>
        </p:nvSpPr>
        <p:spPr>
          <a:xfrm>
            <a:off x="1469430" y="5912346"/>
            <a:ext cx="3048000" cy="707886"/>
          </a:xfrm>
          <a:prstGeom prst="rect">
            <a:avLst/>
          </a:prstGeom>
          <a:noFill/>
        </p:spPr>
        <p:txBody>
          <a:bodyPr wrap="square">
            <a:spAutoFit/>
          </a:bodyPr>
          <a:lstStyle/>
          <a:p>
            <a:pPr algn="ctr"/>
            <a:r>
              <a:rPr lang="en-US" sz="2000" b="1" dirty="0">
                <a:solidFill>
                  <a:schemeClr val="accent2"/>
                </a:solidFill>
              </a:rPr>
              <a:t>Justin Smith</a:t>
            </a:r>
          </a:p>
          <a:p>
            <a:pPr algn="ctr"/>
            <a:r>
              <a:rPr lang="en-US" sz="2000" dirty="0">
                <a:solidFill>
                  <a:schemeClr val="accent2"/>
                </a:solidFill>
              </a:rPr>
              <a:t>VP - Membership</a:t>
            </a:r>
            <a:endParaRPr lang="en-US" dirty="0">
              <a:solidFill>
                <a:schemeClr val="accent2"/>
              </a:solidFill>
            </a:endParaRPr>
          </a:p>
        </p:txBody>
      </p:sp>
      <p:sp>
        <p:nvSpPr>
          <p:cNvPr id="7" name="TextBox 6">
            <a:extLst>
              <a:ext uri="{FF2B5EF4-FFF2-40B4-BE49-F238E27FC236}">
                <a16:creationId xmlns:a16="http://schemas.microsoft.com/office/drawing/2014/main" id="{AC8D0FBB-DF3C-D80D-96D8-FFCE001253FC}"/>
              </a:ext>
            </a:extLst>
          </p:cNvPr>
          <p:cNvSpPr txBox="1"/>
          <p:nvPr/>
        </p:nvSpPr>
        <p:spPr>
          <a:xfrm>
            <a:off x="4958296" y="5894235"/>
            <a:ext cx="3048000" cy="677108"/>
          </a:xfrm>
          <a:prstGeom prst="rect">
            <a:avLst/>
          </a:prstGeom>
          <a:noFill/>
        </p:spPr>
        <p:txBody>
          <a:bodyPr wrap="square">
            <a:spAutoFit/>
          </a:bodyPr>
          <a:lstStyle/>
          <a:p>
            <a:pPr algn="ctr"/>
            <a:r>
              <a:rPr lang="en-US" sz="2000" b="1" dirty="0">
                <a:solidFill>
                  <a:schemeClr val="accent2"/>
                </a:solidFill>
              </a:rPr>
              <a:t>David Thomson</a:t>
            </a:r>
          </a:p>
          <a:p>
            <a:pPr algn="ctr"/>
            <a:r>
              <a:rPr lang="en-US" dirty="0">
                <a:solidFill>
                  <a:schemeClr val="accent2"/>
                </a:solidFill>
              </a:rPr>
              <a:t>President</a:t>
            </a:r>
          </a:p>
        </p:txBody>
      </p:sp>
      <p:pic>
        <p:nvPicPr>
          <p:cNvPr id="1036" name="Picture 12">
            <a:extLst>
              <a:ext uri="{FF2B5EF4-FFF2-40B4-BE49-F238E27FC236}">
                <a16:creationId xmlns:a16="http://schemas.microsoft.com/office/drawing/2014/main" id="{E5B32CFA-C294-4719-AE81-273DDB4015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9754" y="3562216"/>
            <a:ext cx="1739492" cy="2350130"/>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Shape 7">
            <a:extLst>
              <a:ext uri="{FF2B5EF4-FFF2-40B4-BE49-F238E27FC236}">
                <a16:creationId xmlns:a16="http://schemas.microsoft.com/office/drawing/2014/main" id="{77689EEB-522E-1BC3-9784-3B70997A5BDD}"/>
              </a:ext>
            </a:extLst>
          </p:cNvPr>
          <p:cNvSpPr/>
          <p:nvPr/>
        </p:nvSpPr>
        <p:spPr>
          <a:xfrm>
            <a:off x="8447162" y="3562216"/>
            <a:ext cx="3156843" cy="1358133"/>
          </a:xfrm>
          <a:custGeom>
            <a:avLst/>
            <a:gdLst>
              <a:gd name="connsiteX0" fmla="*/ 0 w 3403072"/>
              <a:gd name="connsiteY0" fmla="*/ 0 h 1034349"/>
              <a:gd name="connsiteX1" fmla="*/ 3403072 w 3403072"/>
              <a:gd name="connsiteY1" fmla="*/ 0 h 1034349"/>
              <a:gd name="connsiteX2" fmla="*/ 3403072 w 3403072"/>
              <a:gd name="connsiteY2" fmla="*/ 1034349 h 1034349"/>
              <a:gd name="connsiteX3" fmla="*/ 0 w 3403072"/>
              <a:gd name="connsiteY3" fmla="*/ 1034349 h 1034349"/>
              <a:gd name="connsiteX4" fmla="*/ 0 w 3403072"/>
              <a:gd name="connsiteY4" fmla="*/ 0 h 1034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072" h="1034349">
                <a:moveTo>
                  <a:pt x="0" y="0"/>
                </a:moveTo>
                <a:lnTo>
                  <a:pt x="3403072" y="0"/>
                </a:lnTo>
                <a:lnTo>
                  <a:pt x="3403072" y="1034349"/>
                </a:lnTo>
                <a:lnTo>
                  <a:pt x="0" y="1034349"/>
                </a:lnTo>
                <a:lnTo>
                  <a:pt x="0" y="0"/>
                </a:lnTo>
                <a:close/>
              </a:path>
            </a:pathLst>
          </a:custGeom>
          <a:solidFill>
            <a:schemeClr val="accent2">
              <a:lumMod val="75000"/>
            </a:schemeClr>
          </a:solidFill>
          <a:ln>
            <a:solidFill>
              <a:schemeClr val="bg1"/>
            </a:solid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9469" tIns="109469" rIns="109469" bIns="109469" numCol="1" spcCol="1270" anchor="ctr" anchorCtr="0">
            <a:noAutofit/>
          </a:bodyPr>
          <a:lstStyle/>
          <a:p>
            <a:pPr marL="0" lvl="0" indent="0" algn="ctr" defTabSz="844550">
              <a:lnSpc>
                <a:spcPct val="100000"/>
              </a:lnSpc>
              <a:spcBef>
                <a:spcPct val="0"/>
              </a:spcBef>
              <a:spcAft>
                <a:spcPct val="35000"/>
              </a:spcAft>
              <a:buNone/>
            </a:pPr>
            <a:r>
              <a:rPr lang="en-US" sz="4000" b="1" kern="1200" dirty="0">
                <a:solidFill>
                  <a:schemeClr val="bg1"/>
                </a:solidFill>
              </a:rPr>
              <a:t>2024</a:t>
            </a:r>
          </a:p>
          <a:p>
            <a:pPr marL="0" lvl="0" indent="0" algn="ctr" defTabSz="844550">
              <a:lnSpc>
                <a:spcPct val="100000"/>
              </a:lnSpc>
              <a:spcBef>
                <a:spcPct val="0"/>
              </a:spcBef>
              <a:spcAft>
                <a:spcPct val="35000"/>
              </a:spcAft>
              <a:buNone/>
            </a:pPr>
            <a:r>
              <a:rPr lang="en-US" sz="2800" b="1" kern="1200" dirty="0">
                <a:solidFill>
                  <a:schemeClr val="bg1"/>
                </a:solidFill>
              </a:rPr>
              <a:t>Board of Directors</a:t>
            </a:r>
          </a:p>
        </p:txBody>
      </p:sp>
      <p:sp>
        <p:nvSpPr>
          <p:cNvPr id="9" name="TextBox 8">
            <a:extLst>
              <a:ext uri="{FF2B5EF4-FFF2-40B4-BE49-F238E27FC236}">
                <a16:creationId xmlns:a16="http://schemas.microsoft.com/office/drawing/2014/main" id="{58D83C0C-A4FE-DCD9-44B6-35307726017A}"/>
              </a:ext>
            </a:extLst>
          </p:cNvPr>
          <p:cNvSpPr txBox="1"/>
          <p:nvPr/>
        </p:nvSpPr>
        <p:spPr>
          <a:xfrm>
            <a:off x="8447162" y="5377350"/>
            <a:ext cx="3156843" cy="769441"/>
          </a:xfrm>
          <a:prstGeom prst="rect">
            <a:avLst/>
          </a:prstGeom>
          <a:solidFill>
            <a:schemeClr val="accent2">
              <a:lumMod val="75000"/>
            </a:schemeClr>
          </a:solidFill>
          <a:ln>
            <a:solidFill>
              <a:schemeClr val="bg1"/>
            </a:solidFill>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sz="4400" b="1" dirty="0"/>
              <a:t>Thank you!</a:t>
            </a:r>
          </a:p>
        </p:txBody>
      </p:sp>
    </p:spTree>
    <p:extLst>
      <p:ext uri="{BB962C8B-B14F-4D97-AF65-F5344CB8AC3E}">
        <p14:creationId xmlns:p14="http://schemas.microsoft.com/office/powerpoint/2010/main" val="291560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AB81B-3AEC-4B90-B02A-CB1B02E473DC}"/>
              </a:ext>
            </a:extLst>
          </p:cNvPr>
          <p:cNvSpPr>
            <a:spLocks noGrp="1"/>
          </p:cNvSpPr>
          <p:nvPr>
            <p:ph type="title"/>
          </p:nvPr>
        </p:nvSpPr>
        <p:spPr>
          <a:xfrm>
            <a:off x="838200" y="419989"/>
            <a:ext cx="10515600" cy="1325563"/>
          </a:xfrm>
        </p:spPr>
        <p:txBody>
          <a:bodyPr/>
          <a:lstStyle/>
          <a:p>
            <a:r>
              <a:rPr lang="en-US" b="1" dirty="0">
                <a:solidFill>
                  <a:schemeClr val="accent2"/>
                </a:solidFill>
              </a:rPr>
              <a:t>2024 Quick Review</a:t>
            </a:r>
          </a:p>
        </p:txBody>
      </p:sp>
      <p:sp>
        <p:nvSpPr>
          <p:cNvPr id="4" name="Content Placeholder 3">
            <a:extLst>
              <a:ext uri="{FF2B5EF4-FFF2-40B4-BE49-F238E27FC236}">
                <a16:creationId xmlns:a16="http://schemas.microsoft.com/office/drawing/2014/main" id="{3BE1D1C8-8501-4D05-89D8-3134C2FFA68B}"/>
              </a:ext>
            </a:extLst>
          </p:cNvPr>
          <p:cNvSpPr>
            <a:spLocks noGrp="1"/>
          </p:cNvSpPr>
          <p:nvPr>
            <p:ph idx="1"/>
          </p:nvPr>
        </p:nvSpPr>
        <p:spPr>
          <a:xfrm>
            <a:off x="900953" y="1511860"/>
            <a:ext cx="10515600" cy="4351338"/>
          </a:xfrm>
        </p:spPr>
        <p:txBody>
          <a:bodyPr>
            <a:normAutofit fontScale="92500" lnSpcReduction="20000"/>
          </a:bodyPr>
          <a:lstStyle/>
          <a:p>
            <a:r>
              <a:rPr lang="en-US" dirty="0"/>
              <a:t>Chapter Meetings</a:t>
            </a:r>
          </a:p>
          <a:p>
            <a:pPr lvl="1"/>
            <a:r>
              <a:rPr lang="en-US" dirty="0"/>
              <a:t>Chattanooga BA Networking Event</a:t>
            </a:r>
          </a:p>
          <a:p>
            <a:pPr lvl="1"/>
            <a:r>
              <a:rPr lang="en-US" dirty="0"/>
              <a:t>Interviewing Skills for Business Analysis Roles – Tara Tillman</a:t>
            </a:r>
          </a:p>
          <a:p>
            <a:r>
              <a:rPr lang="en-US" dirty="0"/>
              <a:t>New website: </a:t>
            </a:r>
            <a:r>
              <a:rPr lang="en-US" dirty="0">
                <a:hlinkClick r:id="rId3"/>
              </a:rPr>
              <a:t>https://easttennessee.iiba.org/</a:t>
            </a:r>
            <a:endParaRPr lang="en-US" dirty="0"/>
          </a:p>
          <a:p>
            <a:r>
              <a:rPr lang="en-US" dirty="0"/>
              <a:t>Survey</a:t>
            </a:r>
          </a:p>
          <a:p>
            <a:r>
              <a:rPr lang="en-US" dirty="0"/>
              <a:t>Study Sessions</a:t>
            </a:r>
          </a:p>
          <a:p>
            <a:pPr lvl="1"/>
            <a:r>
              <a:rPr lang="en-US" dirty="0"/>
              <a:t>BABOK Knowledge Areas and Techniques</a:t>
            </a:r>
          </a:p>
          <a:p>
            <a:pPr lvl="1"/>
            <a:r>
              <a:rPr lang="en-US" dirty="0"/>
              <a:t>Agile Extension</a:t>
            </a:r>
          </a:p>
          <a:p>
            <a:pPr lvl="1"/>
            <a:r>
              <a:rPr lang="en-US" dirty="0"/>
              <a:t>Certification Overview</a:t>
            </a:r>
          </a:p>
          <a:p>
            <a:pPr lvl="1"/>
            <a:r>
              <a:rPr lang="en-US" dirty="0"/>
              <a:t>Product Ownership Analysis</a:t>
            </a:r>
          </a:p>
          <a:p>
            <a:pPr lvl="1"/>
            <a:r>
              <a:rPr lang="en-US" dirty="0"/>
              <a:t>Joint event with Nashville chapter</a:t>
            </a:r>
          </a:p>
          <a:p>
            <a:pPr lvl="1"/>
            <a:r>
              <a:rPr lang="en-US" dirty="0"/>
              <a:t>Product Ownership Analysis Class with Bluegrass Chapter</a:t>
            </a:r>
          </a:p>
          <a:p>
            <a:endParaRPr lang="en-US" dirty="0"/>
          </a:p>
        </p:txBody>
      </p:sp>
    </p:spTree>
    <p:extLst>
      <p:ext uri="{BB962C8B-B14F-4D97-AF65-F5344CB8AC3E}">
        <p14:creationId xmlns:p14="http://schemas.microsoft.com/office/powerpoint/2010/main" val="2555222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AB81B-3AEC-4B90-B02A-CB1B02E473DC}"/>
              </a:ext>
            </a:extLst>
          </p:cNvPr>
          <p:cNvSpPr>
            <a:spLocks noGrp="1"/>
          </p:cNvSpPr>
          <p:nvPr>
            <p:ph type="title"/>
          </p:nvPr>
        </p:nvSpPr>
        <p:spPr/>
        <p:txBody>
          <a:bodyPr/>
          <a:lstStyle/>
          <a:p>
            <a:r>
              <a:rPr lang="en-US" b="1" dirty="0">
                <a:solidFill>
                  <a:schemeClr val="accent2"/>
                </a:solidFill>
              </a:rPr>
              <a:t>Potential for 2025</a:t>
            </a:r>
          </a:p>
        </p:txBody>
      </p:sp>
      <p:sp>
        <p:nvSpPr>
          <p:cNvPr id="4" name="Content Placeholder 3">
            <a:extLst>
              <a:ext uri="{FF2B5EF4-FFF2-40B4-BE49-F238E27FC236}">
                <a16:creationId xmlns:a16="http://schemas.microsoft.com/office/drawing/2014/main" id="{3BE1D1C8-8501-4D05-89D8-3134C2FFA68B}"/>
              </a:ext>
            </a:extLst>
          </p:cNvPr>
          <p:cNvSpPr>
            <a:spLocks noGrp="1"/>
          </p:cNvSpPr>
          <p:nvPr>
            <p:ph idx="1"/>
          </p:nvPr>
        </p:nvSpPr>
        <p:spPr>
          <a:xfrm>
            <a:off x="900953" y="1511860"/>
            <a:ext cx="10515600" cy="4860660"/>
          </a:xfrm>
        </p:spPr>
        <p:txBody>
          <a:bodyPr>
            <a:normAutofit/>
          </a:bodyPr>
          <a:lstStyle/>
          <a:p>
            <a:r>
              <a:rPr lang="en-US" dirty="0"/>
              <a:t>Chapter Meetings (virtual and in-person)</a:t>
            </a:r>
          </a:p>
          <a:p>
            <a:r>
              <a:rPr lang="en-US" dirty="0"/>
              <a:t>Knoxville and Chattanooga Events</a:t>
            </a:r>
          </a:p>
          <a:p>
            <a:r>
              <a:rPr lang="en-US" dirty="0"/>
              <a:t>Joint Events (Nashville / Bluegrass / PMI, etc.)</a:t>
            </a:r>
          </a:p>
          <a:p>
            <a:r>
              <a:rPr lang="en-US" dirty="0"/>
              <a:t>BABOK / Certification Study Sessions</a:t>
            </a:r>
          </a:p>
          <a:p>
            <a:r>
              <a:rPr lang="en-US" dirty="0"/>
              <a:t>Business Analysis Development Day (BADD) – explore options</a:t>
            </a:r>
          </a:p>
          <a:p>
            <a:r>
              <a:rPr lang="en-US" dirty="0"/>
              <a:t>Monthly newsletter (email)</a:t>
            </a:r>
          </a:p>
          <a:p>
            <a:pPr marL="0" indent="0">
              <a:buNone/>
            </a:pPr>
            <a:endParaRPr lang="en-US" dirty="0"/>
          </a:p>
        </p:txBody>
      </p:sp>
    </p:spTree>
    <p:extLst>
      <p:ext uri="{BB962C8B-B14F-4D97-AF65-F5344CB8AC3E}">
        <p14:creationId xmlns:p14="http://schemas.microsoft.com/office/powerpoint/2010/main" val="1676983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AB81B-3AEC-4B90-B02A-CB1B02E473DC}"/>
              </a:ext>
            </a:extLst>
          </p:cNvPr>
          <p:cNvSpPr>
            <a:spLocks noGrp="1"/>
          </p:cNvSpPr>
          <p:nvPr>
            <p:ph type="title"/>
          </p:nvPr>
        </p:nvSpPr>
        <p:spPr/>
        <p:txBody>
          <a:bodyPr/>
          <a:lstStyle/>
          <a:p>
            <a:r>
              <a:rPr lang="en-US" b="1" dirty="0">
                <a:solidFill>
                  <a:schemeClr val="accent2"/>
                </a:solidFill>
              </a:rPr>
              <a:t>Chapter Leadership Team</a:t>
            </a:r>
          </a:p>
        </p:txBody>
      </p:sp>
      <p:sp>
        <p:nvSpPr>
          <p:cNvPr id="4" name="Content Placeholder 3">
            <a:extLst>
              <a:ext uri="{FF2B5EF4-FFF2-40B4-BE49-F238E27FC236}">
                <a16:creationId xmlns:a16="http://schemas.microsoft.com/office/drawing/2014/main" id="{3BE1D1C8-8501-4D05-89D8-3134C2FFA68B}"/>
              </a:ext>
            </a:extLst>
          </p:cNvPr>
          <p:cNvSpPr>
            <a:spLocks noGrp="1"/>
          </p:cNvSpPr>
          <p:nvPr>
            <p:ph idx="1"/>
          </p:nvPr>
        </p:nvSpPr>
        <p:spPr>
          <a:xfrm>
            <a:off x="900953" y="1511860"/>
            <a:ext cx="10515600" cy="4860660"/>
          </a:xfrm>
        </p:spPr>
        <p:txBody>
          <a:bodyPr>
            <a:normAutofit/>
          </a:bodyPr>
          <a:lstStyle/>
          <a:p>
            <a:r>
              <a:rPr lang="en-US" dirty="0"/>
              <a:t>IIBA Active Membership Required</a:t>
            </a:r>
          </a:p>
          <a:p>
            <a:r>
              <a:rPr lang="en-US" dirty="0"/>
              <a:t>Open Board of Director Roles:</a:t>
            </a:r>
          </a:p>
          <a:p>
            <a:pPr lvl="1"/>
            <a:r>
              <a:rPr lang="en-US" dirty="0"/>
              <a:t>Vice President of Communications and Marketing</a:t>
            </a:r>
          </a:p>
          <a:p>
            <a:pPr lvl="1"/>
            <a:r>
              <a:rPr lang="en-US" dirty="0"/>
              <a:t>Vice President of </a:t>
            </a:r>
            <a:r>
              <a:rPr lang="en-US" i="0" u="none" strike="noStrike" dirty="0">
                <a:effectLst/>
              </a:rPr>
              <a:t>Professional Development</a:t>
            </a:r>
          </a:p>
          <a:p>
            <a:pPr lvl="1"/>
            <a:r>
              <a:rPr lang="en-US" i="0" u="none" strike="noStrike" dirty="0">
                <a:effectLst/>
              </a:rPr>
              <a:t>Vice President </a:t>
            </a:r>
            <a:r>
              <a:rPr lang="en-US" dirty="0"/>
              <a:t>of </a:t>
            </a:r>
            <a:r>
              <a:rPr lang="en-US" i="0" u="none" strike="noStrike" dirty="0">
                <a:effectLst/>
              </a:rPr>
              <a:t>Membership</a:t>
            </a:r>
          </a:p>
          <a:p>
            <a:pPr lvl="1"/>
            <a:r>
              <a:rPr lang="en-US" i="0" u="none" strike="noStrike" dirty="0">
                <a:effectLst/>
              </a:rPr>
              <a:t>Vice President </a:t>
            </a:r>
            <a:r>
              <a:rPr lang="en-US" dirty="0"/>
              <a:t>of </a:t>
            </a:r>
            <a:r>
              <a:rPr lang="en-US" i="0" u="none" strike="noStrike" dirty="0">
                <a:effectLst/>
              </a:rPr>
              <a:t>Sponsorship</a:t>
            </a:r>
          </a:p>
          <a:p>
            <a:pPr lvl="1"/>
            <a:r>
              <a:rPr lang="en-US" i="0" u="none" strike="noStrike" dirty="0">
                <a:effectLst/>
              </a:rPr>
              <a:t>Vice President of Event Planning</a:t>
            </a:r>
          </a:p>
          <a:p>
            <a:pPr lvl="1"/>
            <a:r>
              <a:rPr lang="en-US" dirty="0"/>
              <a:t>Treasurer</a:t>
            </a:r>
          </a:p>
          <a:p>
            <a:pPr lvl="1"/>
            <a:r>
              <a:rPr lang="en-US" dirty="0"/>
              <a:t>President</a:t>
            </a:r>
            <a:endParaRPr lang="en-US" i="0" u="none" strike="noStrike" dirty="0">
              <a:effectLst/>
            </a:endParaRPr>
          </a:p>
        </p:txBody>
      </p:sp>
    </p:spTree>
    <p:extLst>
      <p:ext uri="{BB962C8B-B14F-4D97-AF65-F5344CB8AC3E}">
        <p14:creationId xmlns:p14="http://schemas.microsoft.com/office/powerpoint/2010/main" val="2182997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E9FE-0A3E-2E09-0F27-F3553EDF40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FFEE95-CD42-13D9-B094-21B3E8BE4FF9}"/>
              </a:ext>
            </a:extLst>
          </p:cNvPr>
          <p:cNvSpPr>
            <a:spLocks noGrp="1"/>
          </p:cNvSpPr>
          <p:nvPr>
            <p:ph type="title"/>
          </p:nvPr>
        </p:nvSpPr>
        <p:spPr/>
        <p:txBody>
          <a:bodyPr/>
          <a:lstStyle/>
          <a:p>
            <a:r>
              <a:rPr lang="en-US" b="1" dirty="0">
                <a:solidFill>
                  <a:schemeClr val="accent2"/>
                </a:solidFill>
              </a:rPr>
              <a:t>Role of Past President</a:t>
            </a:r>
          </a:p>
        </p:txBody>
      </p:sp>
      <p:sp>
        <p:nvSpPr>
          <p:cNvPr id="4" name="Content Placeholder 3">
            <a:extLst>
              <a:ext uri="{FF2B5EF4-FFF2-40B4-BE49-F238E27FC236}">
                <a16:creationId xmlns:a16="http://schemas.microsoft.com/office/drawing/2014/main" id="{20996389-DE5E-606C-4AFC-E93E84B26F93}"/>
              </a:ext>
            </a:extLst>
          </p:cNvPr>
          <p:cNvSpPr>
            <a:spLocks noGrp="1"/>
          </p:cNvSpPr>
          <p:nvPr>
            <p:ph idx="1"/>
          </p:nvPr>
        </p:nvSpPr>
        <p:spPr>
          <a:xfrm>
            <a:off x="900953" y="1511860"/>
            <a:ext cx="10515600" cy="4860660"/>
          </a:xfrm>
        </p:spPr>
        <p:txBody>
          <a:bodyPr>
            <a:normAutofit/>
          </a:bodyPr>
          <a:lstStyle/>
          <a:p>
            <a:r>
              <a:rPr lang="en-US" dirty="0"/>
              <a:t>The immediate Past President shall serve as a member ex-officio of the Board of Directors, with a right to participate in all discussions and all committees.  The Past President shall not have a vote on the Board of Directors or the Committees.</a:t>
            </a:r>
            <a:endParaRPr lang="en-US" i="0" u="none" strike="noStrike" dirty="0">
              <a:effectLst/>
            </a:endParaRPr>
          </a:p>
        </p:txBody>
      </p:sp>
    </p:spTree>
    <p:extLst>
      <p:ext uri="{BB962C8B-B14F-4D97-AF65-F5344CB8AC3E}">
        <p14:creationId xmlns:p14="http://schemas.microsoft.com/office/powerpoint/2010/main" val="264846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13A8-AA1F-42BA-7ED1-EEDAACFBD1DF}"/>
              </a:ext>
            </a:extLst>
          </p:cNvPr>
          <p:cNvSpPr>
            <a:spLocks noGrp="1"/>
          </p:cNvSpPr>
          <p:nvPr>
            <p:ph type="title"/>
          </p:nvPr>
        </p:nvSpPr>
        <p:spPr/>
        <p:txBody>
          <a:bodyPr/>
          <a:lstStyle/>
          <a:p>
            <a:r>
              <a:rPr lang="en-US" b="1" dirty="0">
                <a:solidFill>
                  <a:schemeClr val="accent2"/>
                </a:solidFill>
              </a:rPr>
              <a:t>Board Role Descriptions</a:t>
            </a:r>
          </a:p>
        </p:txBody>
      </p:sp>
      <p:sp>
        <p:nvSpPr>
          <p:cNvPr id="3" name="Content Placeholder 2">
            <a:extLst>
              <a:ext uri="{FF2B5EF4-FFF2-40B4-BE49-F238E27FC236}">
                <a16:creationId xmlns:a16="http://schemas.microsoft.com/office/drawing/2014/main" id="{5ACDA85A-2B9C-5999-18E3-682961BB2763}"/>
              </a:ext>
            </a:extLst>
          </p:cNvPr>
          <p:cNvSpPr>
            <a:spLocks noGrp="1"/>
          </p:cNvSpPr>
          <p:nvPr>
            <p:ph idx="1"/>
          </p:nvPr>
        </p:nvSpPr>
        <p:spPr/>
        <p:txBody>
          <a:bodyPr>
            <a:noAutofit/>
          </a:bodyPr>
          <a:lstStyle/>
          <a:p>
            <a:r>
              <a:rPr lang="en-US" sz="1600" b="1" i="0" u="none" strike="noStrike" dirty="0">
                <a:effectLst/>
              </a:rPr>
              <a:t>Treasurer</a:t>
            </a:r>
            <a:r>
              <a:rPr lang="en-US" sz="1600" b="0" i="0" u="none" strike="noStrike" dirty="0">
                <a:effectLst/>
              </a:rPr>
              <a:t> is responsible for the management of funds for duly authorized purposes of the Chapter. The Treasurer is responsible to the Board of Directors and will submit the books for audit each year.</a:t>
            </a:r>
          </a:p>
          <a:p>
            <a:r>
              <a:rPr lang="en-US" sz="1600" b="1" i="0" u="none" strike="noStrike" dirty="0">
                <a:effectLst/>
              </a:rPr>
              <a:t>Vice President of Communications &amp; Marketing</a:t>
            </a:r>
            <a:r>
              <a:rPr lang="en-US" sz="1600" b="0" i="0" u="none" strike="noStrike" dirty="0">
                <a:effectLst/>
              </a:rPr>
              <a:t> is responsible for the timely dissemination of information both to and from the Chapter membership, using appropriate means to accomplish the objective and is also responsible for the promotion of the local Chapter and IIBA to internal and external publications.</a:t>
            </a:r>
          </a:p>
          <a:p>
            <a:r>
              <a:rPr lang="en-US" sz="1600" b="1" i="0" u="none" strike="noStrike" dirty="0">
                <a:effectLst/>
              </a:rPr>
              <a:t>Secretary</a:t>
            </a:r>
            <a:r>
              <a:rPr lang="en-US" sz="1600" b="0" i="0" u="none" strike="noStrike" dirty="0">
                <a:effectLst/>
              </a:rPr>
              <a:t> keeps the records of all business meetings of the Chapter and meetings of the Board. The Secretary is also responsible for all official correspondence with the members and IIBA, except for committee correspondence.</a:t>
            </a:r>
          </a:p>
          <a:p>
            <a:r>
              <a:rPr lang="en-US" sz="1600" b="1" i="0" u="none" strike="noStrike" dirty="0">
                <a:effectLst/>
              </a:rPr>
              <a:t>Vice President of Professional Development</a:t>
            </a:r>
            <a:r>
              <a:rPr lang="en-US" sz="1600" b="0" i="0" u="none" strike="noStrike" dirty="0">
                <a:effectLst/>
              </a:rPr>
              <a:t> will be responsible for promoting Business Analysis Professionalism through the organization and delivery of educational publications, seminars, and informational updates, including changes to the BA Body of Knowledge to help Business Analysts in the Business Analysis profession. Chapters are prohibited from offering training developed by the Chapter but may host a training session offered by an IIBA  Endorsed Education Provider.</a:t>
            </a:r>
          </a:p>
          <a:p>
            <a:r>
              <a:rPr lang="en-US" sz="1600" b="1" i="0" u="none" strike="noStrike" dirty="0">
                <a:effectLst/>
              </a:rPr>
              <a:t>Vice President of Sponsorship </a:t>
            </a:r>
            <a:r>
              <a:rPr lang="en-US" sz="1600" b="0" i="0" u="none" strike="noStrike" dirty="0">
                <a:effectLst/>
              </a:rPr>
              <a:t>will be responsible for sourcing sponsors and maintaining the relationships.  Sponsorship will allow the Chapter a source of income to further the goals and objectives of the Chapter as well as bringing the community together.</a:t>
            </a:r>
            <a:endParaRPr lang="en-US" sz="1600" dirty="0"/>
          </a:p>
          <a:p>
            <a:r>
              <a:rPr lang="en-US" sz="1600" b="1" i="0" u="none" strike="noStrike" dirty="0">
                <a:effectLst/>
              </a:rPr>
              <a:t>Vice President of Membership</a:t>
            </a:r>
            <a:r>
              <a:rPr lang="en-US" sz="1600" b="0" i="0" u="none" strike="noStrike" dirty="0">
                <a:effectLst/>
              </a:rPr>
              <a:t> will be responsible for the growth and sustainment of the memberships affiliated with the Chapter, as well as managing the Chapter's relationship with its members, corporations and academic institutes.    </a:t>
            </a:r>
          </a:p>
        </p:txBody>
      </p:sp>
    </p:spTree>
    <p:extLst>
      <p:ext uri="{BB962C8B-B14F-4D97-AF65-F5344CB8AC3E}">
        <p14:creationId xmlns:p14="http://schemas.microsoft.com/office/powerpoint/2010/main" val="1353890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AB81B-3AEC-4B90-B02A-CB1B02E473DC}"/>
              </a:ext>
            </a:extLst>
          </p:cNvPr>
          <p:cNvSpPr>
            <a:spLocks noGrp="1"/>
          </p:cNvSpPr>
          <p:nvPr>
            <p:ph type="title"/>
          </p:nvPr>
        </p:nvSpPr>
        <p:spPr/>
        <p:txBody>
          <a:bodyPr/>
          <a:lstStyle/>
          <a:p>
            <a:r>
              <a:rPr lang="en-US" b="1" dirty="0">
                <a:solidFill>
                  <a:schemeClr val="accent2"/>
                </a:solidFill>
              </a:rPr>
              <a:t>Volunteering and Voting</a:t>
            </a:r>
          </a:p>
        </p:txBody>
      </p:sp>
      <p:sp>
        <p:nvSpPr>
          <p:cNvPr id="4" name="Content Placeholder 3">
            <a:extLst>
              <a:ext uri="{FF2B5EF4-FFF2-40B4-BE49-F238E27FC236}">
                <a16:creationId xmlns:a16="http://schemas.microsoft.com/office/drawing/2014/main" id="{3BE1D1C8-8501-4D05-89D8-3134C2FFA68B}"/>
              </a:ext>
            </a:extLst>
          </p:cNvPr>
          <p:cNvSpPr>
            <a:spLocks noGrp="1"/>
          </p:cNvSpPr>
          <p:nvPr>
            <p:ph idx="1"/>
          </p:nvPr>
        </p:nvSpPr>
        <p:spPr>
          <a:xfrm>
            <a:off x="900953" y="1511860"/>
            <a:ext cx="10515600" cy="4860660"/>
          </a:xfrm>
        </p:spPr>
        <p:txBody>
          <a:bodyPr>
            <a:normAutofit lnSpcReduction="10000"/>
          </a:bodyPr>
          <a:lstStyle/>
          <a:p>
            <a:pPr lvl="1"/>
            <a:r>
              <a:rPr lang="en-US" dirty="0">
                <a:solidFill>
                  <a:schemeClr val="accent2"/>
                </a:solidFill>
              </a:rPr>
              <a:t>President</a:t>
            </a:r>
          </a:p>
          <a:p>
            <a:pPr lvl="2"/>
            <a:r>
              <a:rPr lang="en-US" dirty="0"/>
              <a:t>Volunteer:</a:t>
            </a:r>
          </a:p>
          <a:p>
            <a:pPr lvl="1"/>
            <a:r>
              <a:rPr lang="en-US" dirty="0">
                <a:solidFill>
                  <a:schemeClr val="accent2"/>
                </a:solidFill>
              </a:rPr>
              <a:t>Treasurer</a:t>
            </a:r>
          </a:p>
          <a:p>
            <a:pPr lvl="2"/>
            <a:r>
              <a:rPr lang="en-US" dirty="0"/>
              <a:t> Volunteer:</a:t>
            </a:r>
          </a:p>
          <a:p>
            <a:pPr lvl="1"/>
            <a:r>
              <a:rPr lang="en-US" dirty="0">
                <a:solidFill>
                  <a:schemeClr val="accent2"/>
                </a:solidFill>
              </a:rPr>
              <a:t>Vice President of Communications and Marketing</a:t>
            </a:r>
          </a:p>
          <a:p>
            <a:pPr lvl="2"/>
            <a:r>
              <a:rPr lang="en-US" dirty="0"/>
              <a:t>Volunteer:</a:t>
            </a:r>
          </a:p>
          <a:p>
            <a:pPr lvl="1"/>
            <a:r>
              <a:rPr lang="en-US" dirty="0"/>
              <a:t>Vice President of </a:t>
            </a:r>
            <a:r>
              <a:rPr lang="en-US" i="0" u="none" strike="noStrike" dirty="0">
                <a:effectLst/>
              </a:rPr>
              <a:t>Professional Development</a:t>
            </a:r>
          </a:p>
          <a:p>
            <a:pPr lvl="2"/>
            <a:r>
              <a:rPr lang="en-US" dirty="0"/>
              <a:t>Volunteer:</a:t>
            </a:r>
          </a:p>
          <a:p>
            <a:pPr lvl="1"/>
            <a:r>
              <a:rPr lang="en-US" i="0" u="none" strike="noStrike" dirty="0">
                <a:effectLst/>
              </a:rPr>
              <a:t>Vice President (VP) Membership</a:t>
            </a:r>
          </a:p>
          <a:p>
            <a:pPr lvl="2"/>
            <a:r>
              <a:rPr lang="en-US" dirty="0"/>
              <a:t>Volunteer:</a:t>
            </a:r>
            <a:endParaRPr lang="en-US" i="0" u="none" strike="noStrike" dirty="0">
              <a:effectLst/>
            </a:endParaRPr>
          </a:p>
          <a:p>
            <a:pPr lvl="1"/>
            <a:r>
              <a:rPr lang="en-US" i="0" u="none" strike="noStrike" dirty="0">
                <a:effectLst/>
              </a:rPr>
              <a:t>Vice President (VP) Sponsorship</a:t>
            </a:r>
          </a:p>
          <a:p>
            <a:pPr lvl="2"/>
            <a:r>
              <a:rPr lang="en-US" dirty="0"/>
              <a:t>Volunteer:</a:t>
            </a:r>
            <a:endParaRPr lang="en-US" i="0" u="none" strike="noStrike" dirty="0">
              <a:effectLst/>
            </a:endParaRPr>
          </a:p>
          <a:p>
            <a:pPr lvl="1"/>
            <a:r>
              <a:rPr lang="en-US" i="0" u="none" strike="noStrike" dirty="0">
                <a:effectLst/>
              </a:rPr>
              <a:t>Vice President (VP) Event Planning</a:t>
            </a:r>
          </a:p>
          <a:p>
            <a:pPr lvl="2"/>
            <a:r>
              <a:rPr lang="en-US" dirty="0"/>
              <a:t>Volunteer:</a:t>
            </a:r>
          </a:p>
        </p:txBody>
      </p:sp>
    </p:spTree>
    <p:extLst>
      <p:ext uri="{BB962C8B-B14F-4D97-AF65-F5344CB8AC3E}">
        <p14:creationId xmlns:p14="http://schemas.microsoft.com/office/powerpoint/2010/main" val="2389255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B03F3-83C0-FAD4-6B00-2D0CBACF5115}"/>
              </a:ext>
            </a:extLst>
          </p:cNvPr>
          <p:cNvSpPr>
            <a:spLocks noGrp="1"/>
          </p:cNvSpPr>
          <p:nvPr>
            <p:ph type="title"/>
          </p:nvPr>
        </p:nvSpPr>
        <p:spPr/>
        <p:txBody>
          <a:bodyPr/>
          <a:lstStyle/>
          <a:p>
            <a:r>
              <a:rPr lang="en-US" b="1" dirty="0">
                <a:solidFill>
                  <a:schemeClr val="accent2"/>
                </a:solidFill>
              </a:rPr>
              <a:t>Next Steps</a:t>
            </a:r>
          </a:p>
        </p:txBody>
      </p:sp>
      <p:sp>
        <p:nvSpPr>
          <p:cNvPr id="3" name="Content Placeholder 2">
            <a:extLst>
              <a:ext uri="{FF2B5EF4-FFF2-40B4-BE49-F238E27FC236}">
                <a16:creationId xmlns:a16="http://schemas.microsoft.com/office/drawing/2014/main" id="{E34819EB-EA11-A651-C1FE-CA74994FB96D}"/>
              </a:ext>
            </a:extLst>
          </p:cNvPr>
          <p:cNvSpPr>
            <a:spLocks noGrp="1"/>
          </p:cNvSpPr>
          <p:nvPr>
            <p:ph idx="1"/>
          </p:nvPr>
        </p:nvSpPr>
        <p:spPr/>
        <p:txBody>
          <a:bodyPr>
            <a:normAutofit fontScale="85000" lnSpcReduction="20000"/>
          </a:bodyPr>
          <a:lstStyle/>
          <a:p>
            <a:r>
              <a:rPr lang="en-US" dirty="0"/>
              <a:t>Jordan and David voted to extend their board terms to Jan 31, 2025 to help with the transition to either a new board or the decommissioning of East Tennessee chapter.</a:t>
            </a:r>
          </a:p>
          <a:p>
            <a:r>
              <a:rPr lang="en-US" dirty="0"/>
              <a:t>Validate with Courtney on renewing IIBA membership and continuing with the board into 2025</a:t>
            </a:r>
          </a:p>
          <a:p>
            <a:r>
              <a:rPr lang="en-US" dirty="0"/>
              <a:t>Get financial data from Courtney as Treasurer to provide IIBA</a:t>
            </a:r>
          </a:p>
          <a:p>
            <a:r>
              <a:rPr lang="en-US" dirty="0"/>
              <a:t>Close out ORNL Credit Union account finally</a:t>
            </a:r>
          </a:p>
          <a:p>
            <a:r>
              <a:rPr lang="en-US" dirty="0"/>
              <a:t>Provide requested info back to Chapter Support at IIBA on Chapter Health Report and mention about lack of board member interest and future of East TN Chapter</a:t>
            </a:r>
          </a:p>
          <a:p>
            <a:r>
              <a:rPr lang="en-US" dirty="0"/>
              <a:t>Reach out to Pilot and Clayton teams and Tara Tillman at Blue Cross to gauge interest about IIBA board and continuing the chapter</a:t>
            </a:r>
          </a:p>
          <a:p>
            <a:r>
              <a:rPr lang="en-US" dirty="0"/>
              <a:t>Talk to Nashville chapter about merging or collaborating</a:t>
            </a:r>
          </a:p>
        </p:txBody>
      </p:sp>
    </p:spTree>
    <p:extLst>
      <p:ext uri="{BB962C8B-B14F-4D97-AF65-F5344CB8AC3E}">
        <p14:creationId xmlns:p14="http://schemas.microsoft.com/office/powerpoint/2010/main" val="2675675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D97E72F08C214CB4380F303E8794B0" ma:contentTypeVersion="12" ma:contentTypeDescription="Create a new document." ma:contentTypeScope="" ma:versionID="ec03065c46d2f151aa974d4d1db7144d">
  <xsd:schema xmlns:xsd="http://www.w3.org/2001/XMLSchema" xmlns:xs="http://www.w3.org/2001/XMLSchema" xmlns:p="http://schemas.microsoft.com/office/2006/metadata/properties" xmlns:ns2="977d9169-97cd-4f54-ba3b-527ff994b9f8" xmlns:ns3="7187c835-a5c9-4da3-b65d-f4ec7feb930f" targetNamespace="http://schemas.microsoft.com/office/2006/metadata/properties" ma:root="true" ma:fieldsID="3975b7b26c66acd609e0157f44edfb68" ns2:_="" ns3:_="">
    <xsd:import namespace="977d9169-97cd-4f54-ba3b-527ff994b9f8"/>
    <xsd:import namespace="7187c835-a5c9-4da3-b65d-f4ec7feb930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7d9169-97cd-4f54-ba3b-527ff994b9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187c835-a5c9-4da3-b65d-f4ec7feb930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158F03-43CD-43AD-8BA6-1C5DCA8CEDBB}">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FC26AC0A-E28A-4AFC-B47E-E226D845271A}">
  <ds:schemaRefs>
    <ds:schemaRef ds:uri="http://schemas.microsoft.com/office/2006/metadata/contentType"/>
    <ds:schemaRef ds:uri="http://schemas.microsoft.com/office/2006/metadata/properties/metaAttributes"/>
    <ds:schemaRef ds:uri="http://www.w3.org/2000/xmlns/"/>
    <ds:schemaRef ds:uri="http://www.w3.org/2001/XMLSchema"/>
    <ds:schemaRef ds:uri="977d9169-97cd-4f54-ba3b-527ff994b9f8"/>
    <ds:schemaRef ds:uri="7187c835-a5c9-4da3-b65d-f4ec7feb930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5AA76C-1864-4124-A32B-7495AD6D49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18854</TotalTime>
  <Words>701</Words>
  <Application>Microsoft Office PowerPoint</Application>
  <PresentationFormat>Widescreen</PresentationFormat>
  <Paragraphs>93</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IIBA East Tennessee Members Meeting</vt:lpstr>
      <vt:lpstr>Agenda</vt:lpstr>
      <vt:lpstr>PowerPoint Presentation</vt:lpstr>
      <vt:lpstr>2024 Quick Review</vt:lpstr>
      <vt:lpstr>Potential for 2025</vt:lpstr>
      <vt:lpstr>Chapter Leadership Team</vt:lpstr>
      <vt:lpstr>Role of Past President</vt:lpstr>
      <vt:lpstr>Board Role Descriptions</vt:lpstr>
      <vt:lpstr>Volunteering and Voting</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Thomson, David</dc:creator>
  <cp:lastModifiedBy>David Thomson</cp:lastModifiedBy>
  <cp:revision>31</cp:revision>
  <cp:lastPrinted>2022-09-01T11:40:30Z</cp:lastPrinted>
  <dcterms:created xsi:type="dcterms:W3CDTF">2022-06-20T16:56:26Z</dcterms:created>
  <dcterms:modified xsi:type="dcterms:W3CDTF">2024-12-11T00:33:57Z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0x01010082D97E72F08C214CB4380F303E8794B0</vt:lpwstr>
  </property>
</Properties>
</file>